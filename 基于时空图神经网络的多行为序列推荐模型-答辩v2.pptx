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1/10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51560"/>
            <a:ext cx="9418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基于时空图神经网络的</a:t>
            </a:r>
            <a:br/>
            <a:r>
              <a:t>多行为序列推荐模型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1460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华南师范大学本科毕业论文答辩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246120"/>
            <a:ext cx="8183880" cy="292354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8256" y="3319272"/>
            <a:ext cx="7927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510" y="3593465"/>
            <a:ext cx="7927975" cy="2569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rPr lang="en-US"/>
              <a:t>                                            </a:t>
            </a:r>
            <a:r>
              <a:t>01 研究背景与技术路线</a:t>
            </a:r>
            <a:br/>
            <a:r>
              <a:rPr lang="en-US"/>
              <a:t>                                            </a:t>
            </a:r>
            <a:r>
              <a:t>02 理论基础与数据处理</a:t>
            </a:r>
          </a:p>
          <a:p>
            <a:pPr marL="0" lvl="0" indent="0" algn="l">
              <a:buNone/>
              <a:defRPr sz="17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rPr lang="en-US">
                <a:solidFill>
                  <a:srgbClr val="2C384A"/>
                </a:solidFill>
              </a:rPr>
              <a:t>                                            </a:t>
            </a:r>
            <a:r>
              <a:rPr>
                <a:solidFill>
                  <a:srgbClr val="2C384A"/>
                </a:solidFill>
              </a:rPr>
              <a:t>03 时空图构建</a:t>
            </a:r>
            <a:br/>
            <a:r>
              <a:rPr lang="en-US"/>
              <a:t>                                            </a:t>
            </a:r>
            <a:r>
              <a:t>04 模型设计</a:t>
            </a:r>
            <a:br/>
            <a:r>
              <a:rPr lang="en-US"/>
              <a:t>                                            </a:t>
            </a:r>
            <a:r>
              <a:t>05 训练策略</a:t>
            </a:r>
            <a:br/>
            <a:r>
              <a:rPr lang="en-US"/>
              <a:t>                                            </a:t>
            </a:r>
            <a:r>
              <a:t>06 系统实现</a:t>
            </a:r>
            <a:br/>
            <a:r>
              <a:rPr lang="en-US"/>
              <a:t>                                            </a:t>
            </a:r>
            <a:r>
              <a:t>07 实验结果</a:t>
            </a:r>
            <a:br/>
            <a:r>
              <a:rPr lang="en-US"/>
              <a:t>                                            </a:t>
            </a:r>
            <a:r>
              <a:t>08 创新点与总结</a:t>
            </a:r>
            <a:br/>
            <a:r>
              <a:rPr lang="en-US"/>
              <a:t>                                            </a:t>
            </a:r>
            <a:r>
              <a:t>09 致谢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2/10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研究背景与技术路线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280160"/>
            <a:ext cx="4983480" cy="123444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53312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627631"/>
            <a:ext cx="472744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电商推荐已从静态展示转向智能分发。用户行为包含点击、收藏、加购、购买等多个阶段，单一交互建模难以完整反映兴趣形成过程。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724912"/>
            <a:ext cx="4983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798064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研究问题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072384"/>
            <a:ext cx="472744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序列模型擅长时间顺序建模但弱于高阶关系，图模型擅长结构传播但弱于时间动态，多行为语义和时空联合建模仍不充分。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3"/>
            <a:ext cx="4983480" cy="96012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242816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517136"/>
            <a:ext cx="472744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数据清洗与字段统一 → 时空异构图构建 → 模型训练 → 实验分析 → 桌面应用封装。</a:t>
            </a:r>
          </a:p>
        </p:txBody>
      </p:sp>
      <p:pic>
        <p:nvPicPr>
          <p:cNvPr id="20" name="Picture 19" descr="fig03_behavi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89888"/>
            <a:ext cx="4645152" cy="224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79792" y="373075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多行为数据分布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416052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4233672"/>
            <a:ext cx="4818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研究切入点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4507992"/>
            <a:ext cx="481888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将用户、商品、行为类型和时间信息统一到同一建模框架中，使推荐系统同时理解关系结构与兴趣变化。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3/10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理论基础与数据处理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280160"/>
            <a:ext cx="3291840" cy="1078992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5331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Top-K任务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627631"/>
            <a:ext cx="30358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R_u^K = TopK_{i∈I} f(u,i)</a:t>
            </a:r>
            <a:br/>
            <a:r>
              <a:t>推荐目标是排序，从候选集合中选出前K个结果。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280160"/>
            <a:ext cx="32918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35331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关键技术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627631"/>
            <a:ext cx="30358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序列模型负责时间依赖，图模型负责结构关系，多行为建模负责行为语义强弱表达。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1280160"/>
            <a:ext cx="3291840" cy="1078992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135331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统一字段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1627631"/>
            <a:ext cx="30358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e=(u,i,b,t)</a:t>
            </a:r>
            <a:br/>
            <a:r>
              <a:t>以用户、商品、行为类型和时间戳四元组统一表示原始行为日志。</a:t>
            </a:r>
          </a:p>
        </p:txBody>
      </p:sp>
      <p:pic>
        <p:nvPicPr>
          <p:cNvPr id="20" name="Picture 19" descr="fig04_user_activ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761488"/>
            <a:ext cx="4663440" cy="1783080"/>
          </a:xfrm>
          <a:prstGeom prst="rect">
            <a:avLst/>
          </a:prstGeom>
        </p:spPr>
      </p:pic>
      <p:pic>
        <p:nvPicPr>
          <p:cNvPr id="21" name="Picture 20" descr="fig05_item_popular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761488"/>
            <a:ext cx="4663440" cy="1783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83080" y="459943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用户活跃度分布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459943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商品流行度分布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19472"/>
            <a:ext cx="10661904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92624"/>
            <a:ext cx="10405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数据特征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266944"/>
            <a:ext cx="104058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数据具有明显长尾特征，点击远多于购买，因此后续模型必须同时处理稀疏性、热门偏置和高低意图行为不均衡问题。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4/10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时空异构图构建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280160"/>
            <a:ext cx="3611880" cy="1078992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53312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图定义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627631"/>
            <a:ext cx="33558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G=(V,E,φ,ψ)</a:t>
            </a:r>
            <a:br/>
            <a:r>
              <a:t>用户、商品及其关系被组织成带类型的时空异构图，而不是静态同质图。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128016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353312"/>
            <a:ext cx="29900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时间窗口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627631"/>
            <a:ext cx="299008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W_k=[t_k,t_k+Δ)</a:t>
            </a:r>
            <a:br/>
            <a:r>
              <a:t>通过时间窗口切分连续时间轴，降低长跨度噪声。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280160"/>
            <a:ext cx="3246120" cy="1078992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353312"/>
            <a:ext cx="29900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行为强度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627631"/>
            <a:ext cx="299008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ω_(u,i,t)=w_b·exp(-λΔt)</a:t>
            </a:r>
            <a:br/>
            <a:r>
              <a:t>同时量化行为强弱与时间远近，用于边权和样本权重构造。</a:t>
            </a:r>
          </a:p>
        </p:txBody>
      </p:sp>
      <p:pic>
        <p:nvPicPr>
          <p:cNvPr id="20" name="Picture 19" descr="fig06_behavior_trans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97480"/>
            <a:ext cx="4800600" cy="20848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38528" y="4892040"/>
            <a:ext cx="2880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多行为转移矩阵热力图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816352"/>
            <a:ext cx="501091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889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图构建结果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3163824"/>
            <a:ext cx="47548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通过统一字段、清洗规整、时间窗口、动态图快照和行为转移统计，原始日志被整理为可直接进入时空图模型训练的结构化输入。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5/10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模型设计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01_stg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5257800" cy="3017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55080" y="1261872"/>
            <a:ext cx="4663440" cy="1024128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335024"/>
            <a:ext cx="4407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空间建模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609343"/>
            <a:ext cx="440740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通过用户—商品图和商品转移图进行双图传播，学习用户与商品之间的高阶协同关系。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487168"/>
            <a:ext cx="4663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560320"/>
            <a:ext cx="4407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时间建模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834640"/>
            <a:ext cx="440740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序列输入由商品表示、行为嵌入和位置编码组成，并结合时间间隔编码与GRU刻画兴趣变化。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12463"/>
            <a:ext cx="4663440" cy="132588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785615"/>
            <a:ext cx="4407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时空融合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059935"/>
            <a:ext cx="440740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g_u=σ(W_g[h_u^sp||h_u^tm]+b_g)</a:t>
            </a:r>
            <a:br/>
            <a:r>
              <a:t>z_u=g_u⊙h_u^sp+(1-g_u)⊙h_u^tm</a:t>
            </a:r>
            <a:br/>
            <a:r>
              <a:t>门控决定当前更依赖结构信号还是时间信号。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40740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结构图中的空间分支、时间分支与融合输出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6/10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预测层与训练策略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280160"/>
            <a:ext cx="3611880" cy="1115568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53312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预测层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627631"/>
            <a:ext cx="33558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y_(u,i)=z_u^T h_i^sp</a:t>
            </a:r>
            <a:br/>
            <a:r>
              <a:t>采用内积形式进行候选打分，表达简洁、计算效率高，适合实时排序。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1280160"/>
            <a:ext cx="36118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353312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BPR损失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627631"/>
            <a:ext cx="33558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L_bpr=-logσ(y_(u,i+)-y_(u,i-))</a:t>
            </a:r>
            <a:br/>
            <a:r>
              <a:t>排序学习目标要求正样本得分高于负样本。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6" y="1280160"/>
            <a:ext cx="3063240" cy="1115568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353312"/>
            <a:ext cx="2807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在线更新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27631"/>
            <a:ext cx="28072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z_u^new=ηz_u'+(1-η)z_u^old)</a:t>
            </a:r>
            <a:br/>
            <a:r>
              <a:t>新增行为后只做局部状态刷新，不触发全量重训。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88920"/>
            <a:ext cx="10241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训练流程：构图 → 序列打包 → 前向传播 → BPR损失 → 参数更新。</a:t>
            </a:r>
          </a:p>
          <a:p>
            <a:pPr>
              <a:spcAft>
                <a:spcPts val="800"/>
              </a:spcAft>
              <a:defRPr sz="17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负采样采用随机负采样与难负样本补充相结合的方式。</a:t>
            </a:r>
          </a:p>
          <a:p>
            <a:pPr>
              <a:spcAft>
                <a:spcPts val="800"/>
              </a:spcAft>
              <a:defRPr sz="17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复杂度主要受图边规模和序列长度影响，训练中通过浅层传播和稀疏矩阵乘法控制开销。</a:t>
            </a:r>
          </a:p>
          <a:p>
            <a:pPr>
              <a:spcAft>
                <a:spcPts val="800"/>
              </a:spcAft>
              <a:defRPr sz="17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验证集以 NDCG 作为早停依据，用于平衡拟合能力与泛化稳定性。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7/10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系统实现与软件封装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280160"/>
            <a:ext cx="4800600" cy="109728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53312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627631"/>
            <a:ext cx="4544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系统由数据层、模型层、服务层和界面层组成，整体遵循“界面触发 → 服务调度 → 引擎执行 → 结果回传”的调用链。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280160"/>
            <a:ext cx="5486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8736" y="1353312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推荐引擎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1627631"/>
            <a:ext cx="52303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统一处理训练、推理、增量更新和历史淘汰。离线路径负责初始训练，在线路径负责新增行为后的局部刷新。</a:t>
            </a:r>
          </a:p>
        </p:txBody>
      </p:sp>
      <p:pic>
        <p:nvPicPr>
          <p:cNvPr id="17" name="Picture 16" descr="双工作区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97480"/>
            <a:ext cx="5349240" cy="2286000"/>
          </a:xfrm>
          <a:prstGeom prst="rect">
            <a:avLst/>
          </a:prstGeom>
        </p:spPr>
      </p:pic>
      <p:pic>
        <p:nvPicPr>
          <p:cNvPr id="18" name="Picture 17" descr="推荐刷新-后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97480"/>
            <a:ext cx="489204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14600" y="5074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双工作区界面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074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推荐刷新结果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321808"/>
            <a:ext cx="106619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394960"/>
            <a:ext cx="10405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系统特点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669280"/>
            <a:ext cx="10405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系统同时支持 Demo 演示环境与 Custom 自定义数据库环境，在统一操作逻辑下完成推荐、交互更新和结果展示。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8/10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实验结果与案例分析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08_main_benchmark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234440"/>
            <a:ext cx="4983480" cy="2084831"/>
          </a:xfrm>
          <a:prstGeom prst="rect">
            <a:avLst/>
          </a:prstGeom>
        </p:spPr>
      </p:pic>
      <p:pic>
        <p:nvPicPr>
          <p:cNvPr id="12" name="Picture 11" descr="fig09_ablation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234440"/>
            <a:ext cx="4709160" cy="20848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59152" y="340156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主实验结果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0156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消融实验结果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94760"/>
            <a:ext cx="4983480" cy="118872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67912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实验结论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42232"/>
            <a:ext cx="47274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时空联合建模在多数设置下表现更平衡。空间、时间和行为强度三个模块分别承担结构关系、动态变化和意图层次建模，联合使用时效果最稳定。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379476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3867912"/>
            <a:ext cx="5047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案例分析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4142232"/>
            <a:ext cx="50474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结合批量评分、专项诊断和用户行为可视化，可以观察推荐刷新、商品诊断和失败样本归因，从而让模型结果具备更强可解释性。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"/>
            <a:ext cx="6583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创新点与总结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41248"/>
            <a:ext cx="868680" cy="4572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325880"/>
            <a:ext cx="3383280" cy="141732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9903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方法层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673352"/>
            <a:ext cx="312724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构建了面向多行为推荐的时空统一建模框架，将结构关系、时间动态和行为强度放入同一模型中联合学习。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3258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39903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系统层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673352"/>
            <a:ext cx="312724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将模型封装为桌面应用，支持双工作区、实时推荐刷新、自定义数据库接入、批量评分与可视化分析。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325880"/>
            <a:ext cx="3383280" cy="1417320"/>
          </a:xfrm>
          <a:prstGeom prst="roundRect">
            <a:avLst/>
          </a:prstGeom>
          <a:solidFill>
            <a:srgbClr val="DFEBF8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39903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结果层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673352"/>
            <a:ext cx="312724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主实验、消融实验和案例分析共同表明，时空联合建模能够在结构依赖、兴趣变化和行为价值表达之间形成更稳定的平衡。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37560"/>
            <a:ext cx="9966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研究工作完成了从数据处理、模型设计、实验验证到软件落地的完整链条。</a:t>
            </a:r>
          </a:p>
          <a:p>
            <a:pPr>
              <a:spcAft>
                <a:spcPts val="800"/>
              </a:spcAft>
              <a:defRPr sz="19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系统已经具备可运行、可演示、可诊断、可扩展的基本能力。</a:t>
            </a:r>
          </a:p>
          <a:p>
            <a:pPr>
              <a:spcAft>
                <a:spcPts val="800"/>
              </a:spcAft>
              <a:defRPr sz="1900">
                <a:solidFill>
                  <a:srgbClr val="2C384A"/>
                </a:solidFill>
                <a:latin typeface="微软雅黑" panose="020B0503020204020204" charset="-122"/>
              </a:defRPr>
            </a:pPr>
            <a:r>
              <a:t>后续仍可继续引入多模态语义信息，增强冷启动与长尾场景表现。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128016" cy="5394960"/>
          </a:xfrm>
          <a:prstGeom prst="rect">
            <a:avLst/>
          </a:prstGeom>
          <a:solidFill>
            <a:srgbClr val="DF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46304"/>
            <a:ext cx="3429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华师标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73736"/>
            <a:ext cx="3273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355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2738A"/>
                </a:solidFill>
                <a:latin typeface="微软雅黑" panose="020B0503020204020204" charset="-122"/>
              </a:defRPr>
            </a:pPr>
            <a:r>
              <a:t>10/10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6583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2C4A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1546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5C9A"/>
                </a:solidFill>
                <a:latin typeface="微软雅黑" panose="020B0503020204020204" charset="-122"/>
              </a:defRPr>
            </a:pPr>
            <a:r>
              <a:t>恳请各位老师批评指正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2339</Words>
  <Application>WPS 演示</Application>
  <PresentationFormat>On-screen Show (4:3)</PresentationFormat>
  <Paragraphs>180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了基督教</cp:lastModifiedBy>
  <cp:revision>3</cp:revision>
  <dcterms:created xsi:type="dcterms:W3CDTF">2013-01-27T09:14:00Z</dcterms:created>
  <dcterms:modified xsi:type="dcterms:W3CDTF">2026-04-24T08:21:42Z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5FFF8F26A81C4D498D6BFF11547C8CFC_13</vt:lpwstr>
  </property>
</Properties>
</file>